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rygada 1918" panose="020B0604020202020204" charset="0"/>
      <p:regular r:id="rId13"/>
    </p:embeddedFont>
    <p:embeddedFont>
      <p:font typeface="Brygada 1918 Bold" panose="020B0604020202020204" charset="0"/>
      <p:regular r:id="rId14"/>
    </p:embeddedFont>
    <p:embeddedFont>
      <p:font typeface="Brygada 1918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867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16082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E-Commerce Executive Analytics Report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068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End-to-End Data Pipeline · SQL Business Analysis · Power BI Visualization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319909"/>
            <a:ext cx="3765798" cy="215354"/>
          </a:xfrm>
          <a:prstGeom prst="roundRect">
            <a:avLst>
              <a:gd name="adj" fmla="val 50000"/>
            </a:avLst>
          </a:prstGeom>
          <a:solidFill>
            <a:srgbClr val="EAEDDE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362399"/>
            <a:ext cx="405288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PREPARED BY ANSHUL SHRIVASTAVA · DATA ANALYST · JULY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5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Project Overview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70260"/>
            <a:ext cx="5228630" cy="29628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9387" y="1252026"/>
            <a:ext cx="2723183" cy="1486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 end-to-end analytics solution analyzing </a:t>
            </a:r>
            <a:r>
              <a:rPr lang="en-US" sz="10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100,000+ real-world e-commerce transactions</a:t>
            </a: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across Brazil (2016–2018). The project transforms a complex, multi-relational database into a scalable data pipeline — from raw CSV files to a cleaned warehouse, through SQL business queries, to an interactive </a:t>
            </a:r>
            <a:r>
              <a:rPr lang="en-US" sz="10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3-page Power BI Executive Dashboard</a:t>
            </a: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dashboard empowers leaders to assess revenue health, logistics bottlenecks, regional market penetration, and customer payment habits.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6119" y="3839691"/>
            <a:ext cx="4052218" cy="433313"/>
          </a:xfrm>
          <a:prstGeom prst="roundRect">
            <a:avLst>
              <a:gd name="adj" fmla="val 28372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2811" y="3926384"/>
            <a:ext cx="387883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 Ingestion &amp; Cleaning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82811" y="4082876"/>
            <a:ext cx="3878833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Standardize raw data, resolve nulls, translate Portuguese categories</a:t>
            </a:r>
            <a:endParaRPr lang="en-US" sz="600" dirty="0"/>
          </a:p>
        </p:txBody>
      </p:sp>
      <p:sp>
        <p:nvSpPr>
          <p:cNvPr id="8" name="Shape 5"/>
          <p:cNvSpPr/>
          <p:nvPr/>
        </p:nvSpPr>
        <p:spPr>
          <a:xfrm>
            <a:off x="4595664" y="3839691"/>
            <a:ext cx="4052218" cy="433313"/>
          </a:xfrm>
          <a:prstGeom prst="roundRect">
            <a:avLst>
              <a:gd name="adj" fmla="val 28372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82356" y="3926384"/>
            <a:ext cx="387883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SQL Exploratory Analysis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82356" y="4082876"/>
            <a:ext cx="3878833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Complex queries on sales trends, category performance, delivery speeds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496119" y="4320332"/>
            <a:ext cx="4052218" cy="433313"/>
          </a:xfrm>
          <a:prstGeom prst="roundRect">
            <a:avLst>
              <a:gd name="adj" fmla="val 28372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2811" y="4407024"/>
            <a:ext cx="387883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 Modeling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82811" y="4563517"/>
            <a:ext cx="3878833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Star Schema in Power BI with optimized DAX measures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4595664" y="4320332"/>
            <a:ext cx="4052218" cy="433313"/>
          </a:xfrm>
          <a:prstGeom prst="roundRect">
            <a:avLst>
              <a:gd name="adj" fmla="val 28372"/>
            </a:avLst>
          </a:prstGeom>
          <a:solidFill>
            <a:srgbClr val="CC914D"/>
          </a:solidFill>
          <a:ln w="4763">
            <a:solidFill>
              <a:srgbClr val="B277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82356" y="4407024"/>
            <a:ext cx="387883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Executive Visualization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82356" y="4563517"/>
            <a:ext cx="3878833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3-page dashboard: KPIs, operational efficiency, payment insights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Tech Stack &amp; Tools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MySQL / SQL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Primary data warehouse for ingestion, multi-table JOINs, aggregations, and window functions.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33067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Python (Pandas &amp; NumPy)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33957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Data hygiene, datetime parsing, feature engineering, and Portuguese-to-English translation.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60826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Power BI Desktop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3-page interactive dashboard with dynamic slicers, KPI cards, and polished design.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60826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DAX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914775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Custom measures: Total Revenue, AOV, Delay Rate %, and 5-Star Review %.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469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Business Problem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96119" y="1237957"/>
            <a:ext cx="2702049" cy="1355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Olist is Brazil's largest marketplace, connecting small businesses nationwide to major e-commerce channels. Operating at scale introduces significant logistical, financial, and operational complexity.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251" y="860078"/>
            <a:ext cx="5217319" cy="295647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960465"/>
            <a:ext cx="1989906" cy="7884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2806" y="4070003"/>
            <a:ext cx="171368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Logistics &amp; Delivery Delays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62806" y="4257229"/>
            <a:ext cx="1713681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Identify high-risk states and logistics corridors impacting satisfaction.</a:t>
            </a:r>
            <a:endParaRPr lang="en-US" sz="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0021" y="3960465"/>
            <a:ext cx="1989981" cy="7884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16709" y="4070003"/>
            <a:ext cx="17137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Customer Experience Gaps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2716709" y="4257229"/>
            <a:ext cx="1713756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Quantify how delivery delays reduce 5-star ratings.</a:t>
            </a:r>
            <a:endParaRPr lang="en-US" sz="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03998" y="3960465"/>
            <a:ext cx="1989906" cy="7884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70686" y="4070003"/>
            <a:ext cx="171368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Payment &amp; Financing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4770686" y="4257229"/>
            <a:ext cx="1713681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Gain visibility into installment distributions and payment-type revenue.</a:t>
            </a:r>
            <a:endParaRPr lang="en-US" sz="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7901" y="3960465"/>
            <a:ext cx="1989981" cy="7884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24588" y="4070003"/>
            <a:ext cx="171375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Seller Quality Control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6824588" y="4257229"/>
            <a:ext cx="1713756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Identify underperforming sellers via localized scorecards.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Dataset Description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</a:t>
            </a:r>
            <a:r>
              <a:rPr lang="en-US" sz="5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Olist Brazilian E-Commerce Public Dataset</a:t>
            </a:r>
            <a:r>
              <a:rPr lang="en-US" sz="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contains anonymized data on </a:t>
            </a:r>
            <a:r>
              <a:rPr lang="en-US" sz="5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100,000+ orders</a:t>
            </a:r>
            <a:r>
              <a:rPr lang="en-US" sz="5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(Sept 2016 – Oct 2018), capturing the full transaction lifecycle across Brazil.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1420837"/>
            <a:ext cx="3989412" cy="499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Key Data Highlights</a:t>
            </a:r>
            <a:endParaRPr lang="en-US" sz="2400" b="1" dirty="0"/>
          </a:p>
        </p:txBody>
      </p:sp>
      <p:sp>
        <p:nvSpPr>
          <p:cNvPr id="6" name="Text 3"/>
          <p:cNvSpPr/>
          <p:nvPr/>
        </p:nvSpPr>
        <p:spPr>
          <a:xfrm>
            <a:off x="4663232" y="2229730"/>
            <a:ext cx="3989412" cy="17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5 timestamps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per order enabling precise delivery lag calculations</a:t>
            </a:r>
            <a:endParaRPr lang="en-US" sz="11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All </a:t>
            </a:r>
            <a:r>
              <a:rPr lang="en-US" sz="11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27 Brazilian states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covered; volume concentrated in Southeast (SP, RJ, MG)</a:t>
            </a:r>
            <a:endParaRPr lang="en-US" sz="11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32,000+ unique products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across 70+ categories (translated to English)</a:t>
            </a:r>
            <a:endParaRPr lang="en-US" sz="11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Credit card installments ranging from </a:t>
            </a:r>
            <a:r>
              <a:rPr lang="en-US" sz="11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 to 24 months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431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Project Architecture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840879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Data flows sequentially through six structured phases — from raw source files through engineering and analysis, culminating in the executive dashboard.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1047824"/>
            <a:ext cx="8084567" cy="3486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714" y="3872930"/>
            <a:ext cx="1974079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Analytics &amp; Dashboard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3065926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Clean &amp; Transform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26707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Initial EDA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1460068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Ingest CSVs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609430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Each phase enforces data quality gates before advancing to the next stage, ensuring a reliable, audit-ready analytical output.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516062"/>
            <a:ext cx="4722763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EDA, Cleaning &amp; Transformation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925119" y="1533525"/>
            <a:ext cx="2299097" cy="1793602"/>
          </a:xfrm>
          <a:prstGeom prst="roundRect">
            <a:avLst>
              <a:gd name="adj" fmla="val 11115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62785" y="1671191"/>
            <a:ext cx="20237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Initial EDA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062785" y="1953592"/>
            <a:ext cx="2023765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Verified 100k+ orders, confirmed primary key integrity, identified datetime type mismatches. Found ~3% missing delivery dates (canceled orders) and 50% null review comments.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348785" y="1533525"/>
            <a:ext cx="2299097" cy="1793602"/>
          </a:xfrm>
          <a:prstGeom prst="roundRect">
            <a:avLst>
              <a:gd name="adj" fmla="val 11115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86451" y="1671191"/>
            <a:ext cx="20237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86451" y="1953592"/>
            <a:ext cx="2023765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Standardized timestamps to datetime64, isolated canceled orders, translated Portuguese categories to English, filtered corrupted records (installments = 0).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25119" y="3451696"/>
            <a:ext cx="4722763" cy="1175668"/>
          </a:xfrm>
          <a:prstGeom prst="roundRect">
            <a:avLst>
              <a:gd name="adj" fmla="val 16957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2785" y="3589362"/>
            <a:ext cx="444743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62785" y="3871764"/>
            <a:ext cx="4447431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Created Delivery Lead Time, Fulfillment Delay Days, and Is Delayed binary flag. Built regional groupings (5 macro-regions) and installment bins (1x, 2–3x, 4–6x, 7–10x+).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Business Analysis &amp; Findings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Key Discoveries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Revenue: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$15.8M BRL across 100k+ orders; top 10 categories = ~45% of merchandise value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Logistics: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Southeast delivery: 8–11 days vs. Northern states: 20–28+ days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Satisfaction: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On-time orders avg 4.2★; delayed orders drop to 1.6★ — a 60%+ decline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Payments: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Credit cards = 75%+ of revenue; 45%+ of transactions use 2–10+ installments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IN" sz="1100" b="1" dirty="0">
                <a:latin typeface="Brygada 1918 Bold" panose="020B0604020202020204" charset="0"/>
                <a:ea typeface="Brygada 1918 Bold" panose="020B0604020202020204" charset="0"/>
              </a:rPr>
              <a:t>Scale Disparity Note</a:t>
            </a:r>
            <a:r>
              <a:rPr lang="en-IN" sz="1100" b="1" dirty="0">
                <a:latin typeface="Brygada 1918" panose="020B0604020202020204" charset="0"/>
                <a:ea typeface="Brygada 1918" panose="020B0604020202020204" charset="0"/>
              </a:rPr>
              <a:t>:</a:t>
            </a:r>
            <a:r>
              <a:rPr lang="en-IN" sz="1100" dirty="0">
                <a:latin typeface="Brygada 1918" panose="020B0604020202020204" charset="0"/>
                <a:ea typeface="Brygada 1918" panose="020B0604020202020204" charset="0"/>
              </a:rPr>
              <a:t> </a:t>
            </a:r>
            <a:r>
              <a:rPr lang="en-IN" sz="1100" dirty="0" err="1">
                <a:latin typeface="Brygada 1918" panose="020B0604020202020204" charset="0"/>
                <a:ea typeface="Brygada 1918" panose="020B0604020202020204" charset="0"/>
              </a:rPr>
              <a:t>Avg</a:t>
            </a:r>
            <a:r>
              <a:rPr lang="en-IN" sz="1100" dirty="0">
                <a:latin typeface="Brygada 1918" panose="020B0604020202020204" charset="0"/>
                <a:ea typeface="Brygada 1918" panose="020B0604020202020204" charset="0"/>
              </a:rPr>
              <a:t> Order Value (~150 BRL) appears invisible because it shares a 15M BRL Y-axis scale with Total Revenue.</a:t>
            </a:r>
            <a:endParaRPr lang="en-US" sz="1100" dirty="0">
              <a:latin typeface="Brygada 1918" panose="020B0604020202020204" charset="0"/>
              <a:ea typeface="Brygada 1918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649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Power BI Dashboard Development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35608"/>
            <a:ext cx="5209729" cy="29521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4510" y="1002730"/>
            <a:ext cx="2688059" cy="347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 Modeling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964510" y="1269355"/>
            <a:ext cx="2688059" cy="847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Star Schema with central fact tables (Orders, Order Items, Payments, Reviews) linked to dimension tables (Customers, Products, Sellers, Date).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64510" y="2193280"/>
            <a:ext cx="2688059" cy="28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Core DAX Measures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64510" y="2514599"/>
            <a:ext cx="2688059" cy="415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Total Revenue, AOV, Avg Delivery Lead Time, Delay Rate %, Avg Review Score, 5-Star Review %.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64510" y="3606109"/>
            <a:ext cx="2688059" cy="281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3-Page Dashboard Architecture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6119" y="4059659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96119" y="4222179"/>
            <a:ext cx="2666256" cy="14288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11" name="Text 8"/>
          <p:cNvSpPr/>
          <p:nvPr/>
        </p:nvSpPr>
        <p:spPr>
          <a:xfrm>
            <a:off x="496119" y="4302770"/>
            <a:ext cx="2666256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Executive Sales Overview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6119" y="4511278"/>
            <a:ext cx="266625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KPI cards, monthly revenue trends, state heat map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238798" y="4059659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38798" y="4222179"/>
            <a:ext cx="2666330" cy="14288"/>
          </a:xfrm>
          <a:prstGeom prst="rect">
            <a:avLst/>
          </a:prstGeom>
          <a:solidFill>
            <a:srgbClr val="83792E"/>
          </a:solidFill>
          <a:ln/>
        </p:spPr>
      </p:sp>
      <p:sp>
        <p:nvSpPr>
          <p:cNvPr id="15" name="Text 12"/>
          <p:cNvSpPr/>
          <p:nvPr/>
        </p:nvSpPr>
        <p:spPr>
          <a:xfrm>
            <a:off x="3238798" y="4302770"/>
            <a:ext cx="266633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Delivery &amp; Logistics Performance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38798" y="4511278"/>
            <a:ext cx="266633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Fulfillment bottlenecks, delay impact on review scores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81551" y="4059659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981551" y="4222179"/>
            <a:ext cx="2666256" cy="14288"/>
          </a:xfrm>
          <a:prstGeom prst="rect">
            <a:avLst/>
          </a:prstGeom>
          <a:solidFill>
            <a:srgbClr val="E8AF3B"/>
          </a:solidFill>
          <a:ln/>
        </p:spPr>
      </p:sp>
      <p:sp>
        <p:nvSpPr>
          <p:cNvPr id="19" name="Text 16"/>
          <p:cNvSpPr/>
          <p:nvPr/>
        </p:nvSpPr>
        <p:spPr>
          <a:xfrm>
            <a:off x="5981551" y="4302770"/>
            <a:ext cx="2666256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Payment &amp; Customer Insights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81551" y="4511278"/>
            <a:ext cx="266625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Payment method breakdown, installment preferences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397148"/>
            <a:ext cx="4722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Key Insights &amp; Recommendations</a:t>
            </a:r>
            <a:endParaRPr lang="en-US" sz="2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897434"/>
            <a:ext cx="4722763" cy="9958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81016" y="1287363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93642" y="1026840"/>
            <a:ext cx="402483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Shipping Delays Drive Negative Reviews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493642" y="1262881"/>
            <a:ext cx="4024833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On-time orders: </a:t>
            </a:r>
            <a:r>
              <a:rPr lang="en-US" sz="9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4.2★</a:t>
            </a: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; delayed: </a:t>
            </a:r>
            <a:r>
              <a:rPr lang="en-US" sz="9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1.6★</a:t>
            </a: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— a 60%+ drop. </a:t>
            </a:r>
            <a:r>
              <a:rPr lang="en-US" sz="9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→</a:t>
            </a: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Implement automated delay-alert systems and stricter SLA tiers for fulfillment partners.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986781"/>
            <a:ext cx="4722763" cy="8288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81016" y="2293218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493642" y="2116187"/>
            <a:ext cx="402483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Severe Regional Logistics Bottlenecks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493642" y="2352229"/>
            <a:ext cx="402483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Southeast: </a:t>
            </a:r>
            <a:r>
              <a:rPr lang="en-US" sz="9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8–11 days</a:t>
            </a: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; Northern states: </a:t>
            </a:r>
            <a:r>
              <a:rPr lang="en-US" sz="9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20–28+ days</a:t>
            </a: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 </a:t>
            </a:r>
            <a:r>
              <a:rPr lang="en-US" sz="9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→</a:t>
            </a: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Partner with regional 3PL centers in Northern hubs to decentralize inventory.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2909143"/>
            <a:ext cx="4722763" cy="9958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81016" y="3299073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3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493642" y="3038549"/>
            <a:ext cx="402483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Zero-Interest Installment Reliance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493642" y="3274591"/>
            <a:ext cx="4024833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Credit cards = </a:t>
            </a:r>
            <a:r>
              <a:rPr lang="en-US" sz="9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75%+</a:t>
            </a: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of revenue; </a:t>
            </a:r>
            <a:r>
              <a:rPr lang="en-US" sz="9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45%+</a:t>
            </a: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use 2–10+ installments. </a:t>
            </a:r>
            <a:r>
              <a:rPr lang="en-US" sz="90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→</a:t>
            </a:r>
            <a:r>
              <a:rPr lang="en-US" sz="9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Expand banking gateway partnerships (zero-interest terms, Boleto discounts) for high-value categories.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3925119" y="4010174"/>
            <a:ext cx="4722763" cy="736104"/>
          </a:xfrm>
          <a:prstGeom prst="roundRect">
            <a:avLst>
              <a:gd name="adj" fmla="val 23472"/>
            </a:avLst>
          </a:prstGeom>
          <a:solidFill>
            <a:srgbClr val="EAEDDE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0237" y="4167560"/>
            <a:ext cx="143917" cy="1151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299272" y="4132436"/>
            <a:ext cx="4233490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Project Impact:</a:t>
            </a:r>
            <a:r>
              <a:rPr lang="en-US" sz="9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Successfully transformed 100k+ raw transaction records into an end-to-end analytical pipeline — connecting data engineering with business intelligence to deliver actionable strategic insights.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883</Words>
  <Application>Microsoft Office PowerPoint</Application>
  <PresentationFormat>On-screen Show (16:9)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Brygada 1918 Bold</vt:lpstr>
      <vt:lpstr>Brygada 1918</vt:lpstr>
      <vt:lpstr>Brygada 1918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anshul shrivastava</cp:lastModifiedBy>
  <cp:revision>3</cp:revision>
  <dcterms:created xsi:type="dcterms:W3CDTF">2026-07-29T17:25:19Z</dcterms:created>
  <dcterms:modified xsi:type="dcterms:W3CDTF">2026-07-29T17:37:56Z</dcterms:modified>
</cp:coreProperties>
</file>